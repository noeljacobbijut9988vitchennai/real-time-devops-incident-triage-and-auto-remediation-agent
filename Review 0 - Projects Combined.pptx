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7" r:id="rId3"/>
    <p:sldId id="258" r:id="rId4"/>
    <p:sldId id="262" r:id="rId5"/>
    <p:sldId id="26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BF37785-4648-4245-A135-C3A4105924C6}">
          <p14:sldIdLst>
            <p14:sldId id="261"/>
          </p14:sldIdLst>
        </p14:section>
        <p14:section name="Project 1: Real-Time DevOps Incident Triage and Auto-Remediation Agent Using Multi-Agent LLMs, Retrieval-Augmented Generation (RAG), and Kubernetes" id="{D3241186-490D-4CBF-8B35-66F6BF6F7676}">
          <p14:sldIdLst>
            <p14:sldId id="257"/>
            <p14:sldId id="258"/>
          </p14:sldIdLst>
        </p14:section>
        <p14:section name="Project 2: Agentic AI-Based Project Health and Risk Monitoring System for Automated Project Governance" id="{B49A5CFA-9619-4884-9035-B7FB8B194EA1}">
          <p14:sldIdLst>
            <p14:sldId id="262"/>
            <p14:sldId id="26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3" autoAdjust="0"/>
    <p:restoredTop sz="94660"/>
  </p:normalViewPr>
  <p:slideViewPr>
    <p:cSldViewPr snapToGrid="0">
      <p:cViewPr varScale="1">
        <p:scale>
          <a:sx n="64" d="100"/>
          <a:sy n="64" d="100"/>
        </p:scale>
        <p:origin x="8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A49527-C54B-4FD2-AF90-653F07F2B84A}" type="doc">
      <dgm:prSet loTypeId="urn:microsoft.com/office/officeart/2018/2/layout/IconVerticalSolidList" loCatId="icon" qsTypeId="urn:microsoft.com/office/officeart/2005/8/quickstyle/simple1#7" qsCatId="simple" csTypeId="urn:microsoft.com/office/officeart/2005/8/colors/accent1_2#5" csCatId="accent1" phldr="1"/>
      <dgm:spPr/>
      <dgm:t>
        <a:bodyPr/>
        <a:lstStyle/>
        <a:p>
          <a:endParaRPr lang="en-US"/>
        </a:p>
      </dgm:t>
    </dgm:pt>
    <dgm:pt modelId="{8815651D-1A29-4B61-A831-A7A86651275E}">
      <dgm:prSet custT="1"/>
      <dgm:spPr/>
      <dgm:t>
        <a:bodyPr/>
        <a:lstStyle/>
        <a:p>
          <a:pPr>
            <a:lnSpc>
              <a:spcPct val="100000"/>
            </a:lnSpc>
          </a:pPr>
          <a:r>
            <a:rPr lang="en-IN" sz="1800" b="1" dirty="0"/>
            <a:t>Dataset:</a:t>
          </a:r>
          <a:r>
            <a:rPr lang="en-IN" sz="1800" dirty="0"/>
            <a:t> Project task data will be collected from </a:t>
          </a:r>
          <a:r>
            <a:rPr lang="en-IN" sz="1800" b="1" dirty="0"/>
            <a:t>SharePoint Lists, Microsoft Planner, and Excel-based project trackers</a:t>
          </a:r>
          <a:r>
            <a:rPr lang="en-IN" sz="1800" dirty="0"/>
            <a:t> with an estimated size of </a:t>
          </a:r>
          <a:r>
            <a:rPr lang="en-IN" sz="1800" b="1" dirty="0"/>
            <a:t>500-5,000 records</a:t>
          </a:r>
          <a:r>
            <a:rPr lang="en-IN" sz="1800" dirty="0"/>
            <a:t>. Key attributes include </a:t>
          </a:r>
          <a:r>
            <a:rPr lang="en-IN" sz="1800" b="1" dirty="0"/>
            <a:t>Project Name, Task Name, Owner, Status, Priority, and Due Date</a:t>
          </a:r>
          <a:r>
            <a:rPr lang="en-IN" sz="1800" dirty="0"/>
            <a:t>. This data will be used to identify delayed tasks, assess project health, detect risks, generate recommendations, and automate stakeholder notifications.</a:t>
          </a:r>
          <a:endParaRPr lang="en-US" sz="1800" dirty="0"/>
        </a:p>
      </dgm:t>
    </dgm:pt>
    <dgm:pt modelId="{DDBA2476-4838-4982-86E5-FE1CC6E7789D}" type="parTrans" cxnId="{FCE54232-9B17-44E7-80C8-84DFF5C90676}">
      <dgm:prSet/>
      <dgm:spPr/>
      <dgm:t>
        <a:bodyPr/>
        <a:lstStyle/>
        <a:p>
          <a:endParaRPr lang="en-US"/>
        </a:p>
      </dgm:t>
    </dgm:pt>
    <dgm:pt modelId="{BD459F92-B4B3-40A3-98BA-9B56A5303CCF}" type="sibTrans" cxnId="{FCE54232-9B17-44E7-80C8-84DFF5C90676}">
      <dgm:prSet/>
      <dgm:spPr/>
      <dgm:t>
        <a:bodyPr/>
        <a:lstStyle/>
        <a:p>
          <a:endParaRPr lang="en-US"/>
        </a:p>
      </dgm:t>
    </dgm:pt>
    <dgm:pt modelId="{1AD86494-E61D-4B98-8C9B-245D1B0C35DB}">
      <dgm:prSet custT="1"/>
      <dgm:spPr/>
      <dgm:t>
        <a:bodyPr/>
        <a:lstStyle/>
        <a:p>
          <a:pPr>
            <a:lnSpc>
              <a:spcPct val="100000"/>
            </a:lnSpc>
          </a:pPr>
          <a:endParaRPr lang="en-IN" sz="1800" b="1" dirty="0"/>
        </a:p>
        <a:p>
          <a:pPr>
            <a:lnSpc>
              <a:spcPct val="100000"/>
            </a:lnSpc>
          </a:pPr>
          <a:endParaRPr lang="en-IN" sz="1800" b="1" dirty="0"/>
        </a:p>
        <a:p>
          <a:pPr>
            <a:lnSpc>
              <a:spcPct val="100000"/>
            </a:lnSpc>
          </a:pPr>
          <a:r>
            <a:rPr lang="en-IN" sz="1800" b="1" dirty="0"/>
            <a:t>Technical Stack:</a:t>
          </a:r>
          <a:r>
            <a:rPr lang="en-IN" sz="1800" dirty="0"/>
            <a:t> </a:t>
          </a:r>
          <a:r>
            <a:rPr lang="en-IN" sz="1800" b="0" i="0" dirty="0"/>
            <a:t>The solution will use </a:t>
          </a:r>
          <a:r>
            <a:rPr lang="en-IN" sz="1800" b="1" i="0" dirty="0"/>
            <a:t>Microsoft Copilot Studio</a:t>
          </a:r>
          <a:r>
            <a:rPr lang="en-IN" sz="1800" b="0" i="0" dirty="0"/>
            <a:t> for Agentic AI reasoning and recommendation generation, </a:t>
          </a:r>
          <a:r>
            <a:rPr lang="en-IN" sz="1800" b="1" i="0" dirty="0"/>
            <a:t>Power Automate</a:t>
          </a:r>
          <a:r>
            <a:rPr lang="en-IN" sz="1800" b="0" i="0" dirty="0"/>
            <a:t> for workflow automation, </a:t>
          </a:r>
          <a:r>
            <a:rPr lang="en-IN" sz="1800" b="1" i="0" dirty="0"/>
            <a:t>SharePoint Online and Microsoft Planner</a:t>
          </a:r>
          <a:r>
            <a:rPr lang="en-IN" sz="1800" b="0" i="0" dirty="0"/>
            <a:t> as data sources, </a:t>
          </a:r>
          <a:r>
            <a:rPr lang="en-IN" sz="1800" b="1" i="0" dirty="0"/>
            <a:t>Microsoft Teams and Outlook</a:t>
          </a:r>
          <a:r>
            <a:rPr lang="en-IN" sz="1800" b="0" i="0" dirty="0"/>
            <a:t> for notifications, and </a:t>
          </a:r>
          <a:r>
            <a:rPr lang="en-IN" sz="1800" b="1" i="0" dirty="0"/>
            <a:t>Power BI</a:t>
          </a:r>
          <a:r>
            <a:rPr lang="en-IN" sz="1800" b="0" i="0" dirty="0"/>
            <a:t> (optional) for dashboards and visualization. </a:t>
          </a:r>
          <a:r>
            <a:rPr lang="en-IN" sz="1800" b="1" i="0" dirty="0"/>
            <a:t>Azure OpenAI (GPT-4o)</a:t>
          </a:r>
          <a:r>
            <a:rPr lang="en-IN" sz="1800" b="0" i="0" dirty="0"/>
            <a:t> may be integrated as an optional enhancement to improve advanced reasoning, predictive risk analysis, and recommendation quality.</a:t>
          </a:r>
        </a:p>
        <a:p>
          <a:pPr>
            <a:lnSpc>
              <a:spcPct val="100000"/>
            </a:lnSpc>
            <a:buNone/>
          </a:pPr>
          <a:endParaRPr lang="en-IN" sz="1800" dirty="0"/>
        </a:p>
        <a:p>
          <a:pPr>
            <a:lnSpc>
              <a:spcPct val="100000"/>
            </a:lnSpc>
          </a:pPr>
          <a:endParaRPr lang="en-US" sz="1800" dirty="0"/>
        </a:p>
      </dgm:t>
    </dgm:pt>
    <dgm:pt modelId="{207DD7E5-EB84-4804-BF48-C43327CBD10B}" type="parTrans" cxnId="{85780E4C-D08D-4C24-B165-AE271A5756E2}">
      <dgm:prSet/>
      <dgm:spPr/>
      <dgm:t>
        <a:bodyPr/>
        <a:lstStyle/>
        <a:p>
          <a:endParaRPr lang="en-US"/>
        </a:p>
      </dgm:t>
    </dgm:pt>
    <dgm:pt modelId="{FD2B7895-4AF0-47CD-8EDA-C887CA7474D1}" type="sibTrans" cxnId="{85780E4C-D08D-4C24-B165-AE271A5756E2}">
      <dgm:prSet/>
      <dgm:spPr/>
      <dgm:t>
        <a:bodyPr/>
        <a:lstStyle/>
        <a:p>
          <a:endParaRPr lang="en-US"/>
        </a:p>
      </dgm:t>
    </dgm:pt>
    <dgm:pt modelId="{49036DB1-3AEA-4BAD-8694-F9526E4C63C5}">
      <dgm:prSet custT="1"/>
      <dgm:spPr/>
      <dgm:t>
        <a:bodyPr/>
        <a:lstStyle/>
        <a:p>
          <a:pPr>
            <a:lnSpc>
              <a:spcPct val="100000"/>
            </a:lnSpc>
          </a:pPr>
          <a:r>
            <a:rPr lang="en-IN" sz="1800" b="1" dirty="0"/>
            <a:t>Expected Outcomes:</a:t>
          </a:r>
          <a:r>
            <a:rPr lang="en-IN" sz="1800" dirty="0"/>
            <a:t> The system will automatically monitor project progress, classify project health as </a:t>
          </a:r>
          <a:r>
            <a:rPr lang="en-IN" sz="1800" b="1" dirty="0"/>
            <a:t>Green/Amber/Red</a:t>
          </a:r>
          <a:r>
            <a:rPr lang="en-IN" sz="1800" dirty="0"/>
            <a:t>, detect risks and delays early, generate actionable mitigation recommendations, automate Teams and email reports, reduce manual project monitoring effort, and improve project governance and decision-making within the Microsoft 365 ecosystem.</a:t>
          </a:r>
          <a:endParaRPr lang="en-US" sz="1800" dirty="0"/>
        </a:p>
      </dgm:t>
    </dgm:pt>
    <dgm:pt modelId="{B72796B4-4A72-49AD-B6D5-24F312EC9C30}" type="parTrans" cxnId="{32CC336B-64CF-47D5-B2E9-73FC844581E1}">
      <dgm:prSet/>
      <dgm:spPr/>
      <dgm:t>
        <a:bodyPr/>
        <a:lstStyle/>
        <a:p>
          <a:endParaRPr lang="en-US"/>
        </a:p>
      </dgm:t>
    </dgm:pt>
    <dgm:pt modelId="{0A265701-7372-47DC-9635-09EBA57B01DD}" type="sibTrans" cxnId="{32CC336B-64CF-47D5-B2E9-73FC844581E1}">
      <dgm:prSet/>
      <dgm:spPr/>
      <dgm:t>
        <a:bodyPr/>
        <a:lstStyle/>
        <a:p>
          <a:endParaRPr lang="en-US"/>
        </a:p>
      </dgm:t>
    </dgm:pt>
    <dgm:pt modelId="{B01CA2E0-4796-43D9-968D-44F50A398284}" type="pres">
      <dgm:prSet presAssocID="{05A49527-C54B-4FD2-AF90-653F07F2B84A}" presName="root" presStyleCnt="0">
        <dgm:presLayoutVars>
          <dgm:dir/>
          <dgm:resizeHandles val="exact"/>
        </dgm:presLayoutVars>
      </dgm:prSet>
      <dgm:spPr/>
    </dgm:pt>
    <dgm:pt modelId="{F60C8E5C-B459-4C92-B924-EAE16CC5755F}" type="pres">
      <dgm:prSet presAssocID="{8815651D-1A29-4B61-A831-A7A86651275E}" presName="compNode" presStyleCnt="0"/>
      <dgm:spPr/>
    </dgm:pt>
    <dgm:pt modelId="{081C992A-056B-447A-9E3D-7120B88E371E}" type="pres">
      <dgm:prSet presAssocID="{8815651D-1A29-4B61-A831-A7A86651275E}" presName="bgRect" presStyleLbl="bgShp" presStyleIdx="0" presStyleCnt="3"/>
      <dgm:spPr/>
    </dgm:pt>
    <dgm:pt modelId="{EC36DBBF-D9D9-4201-B0DB-B36C99297B7B}" type="pres">
      <dgm:prSet presAssocID="{8815651D-1A29-4B61-A831-A7A86651275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able"/>
        </a:ext>
      </dgm:extLst>
    </dgm:pt>
    <dgm:pt modelId="{CAEADEBE-5D6A-4FF5-9293-477823C8E069}" type="pres">
      <dgm:prSet presAssocID="{8815651D-1A29-4B61-A831-A7A86651275E}" presName="spaceRect" presStyleCnt="0"/>
      <dgm:spPr/>
    </dgm:pt>
    <dgm:pt modelId="{15B82146-CB95-44B6-B127-0637BCFCD053}" type="pres">
      <dgm:prSet presAssocID="{8815651D-1A29-4B61-A831-A7A86651275E}" presName="parTx" presStyleLbl="revTx" presStyleIdx="0" presStyleCnt="3">
        <dgm:presLayoutVars>
          <dgm:chMax val="0"/>
          <dgm:chPref val="0"/>
        </dgm:presLayoutVars>
      </dgm:prSet>
      <dgm:spPr/>
    </dgm:pt>
    <dgm:pt modelId="{CC1F3336-E3F9-4BC7-8632-81A55AFE5C16}" type="pres">
      <dgm:prSet presAssocID="{BD459F92-B4B3-40A3-98BA-9B56A5303CCF}" presName="sibTrans" presStyleCnt="0"/>
      <dgm:spPr/>
    </dgm:pt>
    <dgm:pt modelId="{42D271E9-F9D8-4C1B-9C32-CCD7E24EEB1B}" type="pres">
      <dgm:prSet presAssocID="{1AD86494-E61D-4B98-8C9B-245D1B0C35DB}" presName="compNode" presStyleCnt="0"/>
      <dgm:spPr/>
    </dgm:pt>
    <dgm:pt modelId="{C7874E14-4C82-4670-BE54-76B29CD874D2}" type="pres">
      <dgm:prSet presAssocID="{1AD86494-E61D-4B98-8C9B-245D1B0C35DB}" presName="bgRect" presStyleLbl="bgShp" presStyleIdx="1" presStyleCnt="3"/>
      <dgm:spPr/>
    </dgm:pt>
    <dgm:pt modelId="{7C0EDB1B-0F7F-4FCC-B4FA-CFC8DDFF94A0}" type="pres">
      <dgm:prSet presAssocID="{1AD86494-E61D-4B98-8C9B-245D1B0C35D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Computing"/>
        </a:ext>
      </dgm:extLst>
    </dgm:pt>
    <dgm:pt modelId="{72B75C4B-1BB2-4B66-B4C1-236F85F8612B}" type="pres">
      <dgm:prSet presAssocID="{1AD86494-E61D-4B98-8C9B-245D1B0C35DB}" presName="spaceRect" presStyleCnt="0"/>
      <dgm:spPr/>
    </dgm:pt>
    <dgm:pt modelId="{9FA64103-C4D5-4BD7-8008-8F055D50FDFF}" type="pres">
      <dgm:prSet presAssocID="{1AD86494-E61D-4B98-8C9B-245D1B0C35DB}" presName="parTx" presStyleLbl="revTx" presStyleIdx="1" presStyleCnt="3">
        <dgm:presLayoutVars>
          <dgm:chMax val="0"/>
          <dgm:chPref val="0"/>
        </dgm:presLayoutVars>
      </dgm:prSet>
      <dgm:spPr/>
    </dgm:pt>
    <dgm:pt modelId="{94A67A6D-DD95-49F7-83ED-3051BAC15631}" type="pres">
      <dgm:prSet presAssocID="{FD2B7895-4AF0-47CD-8EDA-C887CA7474D1}" presName="sibTrans" presStyleCnt="0"/>
      <dgm:spPr/>
    </dgm:pt>
    <dgm:pt modelId="{3AB461F5-A78E-4717-956C-91437BD1A489}" type="pres">
      <dgm:prSet presAssocID="{49036DB1-3AEA-4BAD-8694-F9526E4C63C5}" presName="compNode" presStyleCnt="0"/>
      <dgm:spPr/>
    </dgm:pt>
    <dgm:pt modelId="{7778F566-0A1B-46DE-9A2C-09A3BF7A4488}" type="pres">
      <dgm:prSet presAssocID="{49036DB1-3AEA-4BAD-8694-F9526E4C63C5}" presName="bgRect" presStyleLbl="bgShp" presStyleIdx="2" presStyleCnt="3"/>
      <dgm:spPr/>
    </dgm:pt>
    <dgm:pt modelId="{9BC922EF-D18A-4001-922C-5F5F65551329}" type="pres">
      <dgm:prSet presAssocID="{49036DB1-3AEA-4BAD-8694-F9526E4C63C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arning"/>
        </a:ext>
      </dgm:extLst>
    </dgm:pt>
    <dgm:pt modelId="{5ADAB680-45B1-4376-BD63-00335B3D1E4B}" type="pres">
      <dgm:prSet presAssocID="{49036DB1-3AEA-4BAD-8694-F9526E4C63C5}" presName="spaceRect" presStyleCnt="0"/>
      <dgm:spPr/>
    </dgm:pt>
    <dgm:pt modelId="{9625D4D2-9E44-4256-9A8F-C6D622EB6D41}" type="pres">
      <dgm:prSet presAssocID="{49036DB1-3AEA-4BAD-8694-F9526E4C63C5}" presName="parTx" presStyleLbl="revTx" presStyleIdx="2" presStyleCnt="3">
        <dgm:presLayoutVars>
          <dgm:chMax val="0"/>
          <dgm:chPref val="0"/>
        </dgm:presLayoutVars>
      </dgm:prSet>
      <dgm:spPr/>
    </dgm:pt>
  </dgm:ptLst>
  <dgm:cxnLst>
    <dgm:cxn modelId="{FCE54232-9B17-44E7-80C8-84DFF5C90676}" srcId="{05A49527-C54B-4FD2-AF90-653F07F2B84A}" destId="{8815651D-1A29-4B61-A831-A7A86651275E}" srcOrd="0" destOrd="0" parTransId="{DDBA2476-4838-4982-86E5-FE1CC6E7789D}" sibTransId="{BD459F92-B4B3-40A3-98BA-9B56A5303CCF}"/>
    <dgm:cxn modelId="{32CC336B-64CF-47D5-B2E9-73FC844581E1}" srcId="{05A49527-C54B-4FD2-AF90-653F07F2B84A}" destId="{49036DB1-3AEA-4BAD-8694-F9526E4C63C5}" srcOrd="2" destOrd="0" parTransId="{B72796B4-4A72-49AD-B6D5-24F312EC9C30}" sibTransId="{0A265701-7372-47DC-9635-09EBA57B01DD}"/>
    <dgm:cxn modelId="{85780E4C-D08D-4C24-B165-AE271A5756E2}" srcId="{05A49527-C54B-4FD2-AF90-653F07F2B84A}" destId="{1AD86494-E61D-4B98-8C9B-245D1B0C35DB}" srcOrd="1" destOrd="0" parTransId="{207DD7E5-EB84-4804-BF48-C43327CBD10B}" sibTransId="{FD2B7895-4AF0-47CD-8EDA-C887CA7474D1}"/>
    <dgm:cxn modelId="{22D16FA7-1A8D-4A82-A721-3C3E26624D01}" type="presOf" srcId="{49036DB1-3AEA-4BAD-8694-F9526E4C63C5}" destId="{9625D4D2-9E44-4256-9A8F-C6D622EB6D41}" srcOrd="0" destOrd="0" presId="urn:microsoft.com/office/officeart/2018/2/layout/IconVerticalSolidList"/>
    <dgm:cxn modelId="{5EF82AC5-26D9-4ED2-8820-C4477A4FF787}" type="presOf" srcId="{1AD86494-E61D-4B98-8C9B-245D1B0C35DB}" destId="{9FA64103-C4D5-4BD7-8008-8F055D50FDFF}" srcOrd="0" destOrd="0" presId="urn:microsoft.com/office/officeart/2018/2/layout/IconVerticalSolidList"/>
    <dgm:cxn modelId="{248A48E4-2571-4E17-82AE-F8C1155798FB}" type="presOf" srcId="{05A49527-C54B-4FD2-AF90-653F07F2B84A}" destId="{B01CA2E0-4796-43D9-968D-44F50A398284}" srcOrd="0" destOrd="0" presId="urn:microsoft.com/office/officeart/2018/2/layout/IconVerticalSolidList"/>
    <dgm:cxn modelId="{FBDE63E7-520E-4693-B16A-244322ACFF99}" type="presOf" srcId="{8815651D-1A29-4B61-A831-A7A86651275E}" destId="{15B82146-CB95-44B6-B127-0637BCFCD053}" srcOrd="0" destOrd="0" presId="urn:microsoft.com/office/officeart/2018/2/layout/IconVerticalSolidList"/>
    <dgm:cxn modelId="{9170866F-87B0-4019-A31A-803F7AE20E8D}" type="presParOf" srcId="{B01CA2E0-4796-43D9-968D-44F50A398284}" destId="{F60C8E5C-B459-4C92-B924-EAE16CC5755F}" srcOrd="0" destOrd="0" presId="urn:microsoft.com/office/officeart/2018/2/layout/IconVerticalSolidList"/>
    <dgm:cxn modelId="{04170EEA-01CE-456B-B532-1E8924C7062F}" type="presParOf" srcId="{F60C8E5C-B459-4C92-B924-EAE16CC5755F}" destId="{081C992A-056B-447A-9E3D-7120B88E371E}" srcOrd="0" destOrd="0" presId="urn:microsoft.com/office/officeart/2018/2/layout/IconVerticalSolidList"/>
    <dgm:cxn modelId="{4D870675-AFBD-4BFC-8735-C6B202082A18}" type="presParOf" srcId="{F60C8E5C-B459-4C92-B924-EAE16CC5755F}" destId="{EC36DBBF-D9D9-4201-B0DB-B36C99297B7B}" srcOrd="1" destOrd="0" presId="urn:microsoft.com/office/officeart/2018/2/layout/IconVerticalSolidList"/>
    <dgm:cxn modelId="{D469BAFD-8EA2-418B-B8CE-1AEA030D6BB0}" type="presParOf" srcId="{F60C8E5C-B459-4C92-B924-EAE16CC5755F}" destId="{CAEADEBE-5D6A-4FF5-9293-477823C8E069}" srcOrd="2" destOrd="0" presId="urn:microsoft.com/office/officeart/2018/2/layout/IconVerticalSolidList"/>
    <dgm:cxn modelId="{374325DF-9967-487D-B97E-689E717D88EA}" type="presParOf" srcId="{F60C8E5C-B459-4C92-B924-EAE16CC5755F}" destId="{15B82146-CB95-44B6-B127-0637BCFCD053}" srcOrd="3" destOrd="0" presId="urn:microsoft.com/office/officeart/2018/2/layout/IconVerticalSolidList"/>
    <dgm:cxn modelId="{EF27457D-12AC-44E4-A6DB-E70B4E48C683}" type="presParOf" srcId="{B01CA2E0-4796-43D9-968D-44F50A398284}" destId="{CC1F3336-E3F9-4BC7-8632-81A55AFE5C16}" srcOrd="1" destOrd="0" presId="urn:microsoft.com/office/officeart/2018/2/layout/IconVerticalSolidList"/>
    <dgm:cxn modelId="{A9864D1E-7762-4370-87A8-9D92F9C3C529}" type="presParOf" srcId="{B01CA2E0-4796-43D9-968D-44F50A398284}" destId="{42D271E9-F9D8-4C1B-9C32-CCD7E24EEB1B}" srcOrd="2" destOrd="0" presId="urn:microsoft.com/office/officeart/2018/2/layout/IconVerticalSolidList"/>
    <dgm:cxn modelId="{349F0669-59D5-472C-8964-3F3B5610F966}" type="presParOf" srcId="{42D271E9-F9D8-4C1B-9C32-CCD7E24EEB1B}" destId="{C7874E14-4C82-4670-BE54-76B29CD874D2}" srcOrd="0" destOrd="0" presId="urn:microsoft.com/office/officeart/2018/2/layout/IconVerticalSolidList"/>
    <dgm:cxn modelId="{1E09D17E-770E-4F46-9678-06841B35B945}" type="presParOf" srcId="{42D271E9-F9D8-4C1B-9C32-CCD7E24EEB1B}" destId="{7C0EDB1B-0F7F-4FCC-B4FA-CFC8DDFF94A0}" srcOrd="1" destOrd="0" presId="urn:microsoft.com/office/officeart/2018/2/layout/IconVerticalSolidList"/>
    <dgm:cxn modelId="{07473EFF-56BD-407E-97D5-F13487791DB2}" type="presParOf" srcId="{42D271E9-F9D8-4C1B-9C32-CCD7E24EEB1B}" destId="{72B75C4B-1BB2-4B66-B4C1-236F85F8612B}" srcOrd="2" destOrd="0" presId="urn:microsoft.com/office/officeart/2018/2/layout/IconVerticalSolidList"/>
    <dgm:cxn modelId="{F25CCCAF-8CCC-4134-BB6D-8971561FDED4}" type="presParOf" srcId="{42D271E9-F9D8-4C1B-9C32-CCD7E24EEB1B}" destId="{9FA64103-C4D5-4BD7-8008-8F055D50FDFF}" srcOrd="3" destOrd="0" presId="urn:microsoft.com/office/officeart/2018/2/layout/IconVerticalSolidList"/>
    <dgm:cxn modelId="{BCD90B23-E55A-42C1-850B-3A402A94F2A9}" type="presParOf" srcId="{B01CA2E0-4796-43D9-968D-44F50A398284}" destId="{94A67A6D-DD95-49F7-83ED-3051BAC15631}" srcOrd="3" destOrd="0" presId="urn:microsoft.com/office/officeart/2018/2/layout/IconVerticalSolidList"/>
    <dgm:cxn modelId="{6BC9DBC8-5BC9-4525-9C74-25E1BA784044}" type="presParOf" srcId="{B01CA2E0-4796-43D9-968D-44F50A398284}" destId="{3AB461F5-A78E-4717-956C-91437BD1A489}" srcOrd="4" destOrd="0" presId="urn:microsoft.com/office/officeart/2018/2/layout/IconVerticalSolidList"/>
    <dgm:cxn modelId="{0A71BC40-86A8-468C-96CB-A2561521354D}" type="presParOf" srcId="{3AB461F5-A78E-4717-956C-91437BD1A489}" destId="{7778F566-0A1B-46DE-9A2C-09A3BF7A4488}" srcOrd="0" destOrd="0" presId="urn:microsoft.com/office/officeart/2018/2/layout/IconVerticalSolidList"/>
    <dgm:cxn modelId="{57B630A6-DBBC-4F40-BBB7-4FB5C2C78186}" type="presParOf" srcId="{3AB461F5-A78E-4717-956C-91437BD1A489}" destId="{9BC922EF-D18A-4001-922C-5F5F65551329}" srcOrd="1" destOrd="0" presId="urn:microsoft.com/office/officeart/2018/2/layout/IconVerticalSolidList"/>
    <dgm:cxn modelId="{C4F8951C-2A31-4C65-8168-E47037595A0C}" type="presParOf" srcId="{3AB461F5-A78E-4717-956C-91437BD1A489}" destId="{5ADAB680-45B1-4376-BD63-00335B3D1E4B}" srcOrd="2" destOrd="0" presId="urn:microsoft.com/office/officeart/2018/2/layout/IconVerticalSolidList"/>
    <dgm:cxn modelId="{C84449F6-EDF8-4B60-B5DB-64C11EEB02F1}" type="presParOf" srcId="{3AB461F5-A78E-4717-956C-91437BD1A489}" destId="{9625D4D2-9E44-4256-9A8F-C6D622EB6D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C992A-056B-447A-9E3D-7120B88E371E}">
      <dsp:nvSpPr>
        <dsp:cNvPr id="0" name=""/>
        <dsp:cNvSpPr/>
      </dsp:nvSpPr>
      <dsp:spPr>
        <a:xfrm>
          <a:off x="0" y="4659"/>
          <a:ext cx="12192000" cy="1596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36DBBF-D9D9-4201-B0DB-B36C99297B7B}">
      <dsp:nvSpPr>
        <dsp:cNvPr id="0" name=""/>
        <dsp:cNvSpPr/>
      </dsp:nvSpPr>
      <dsp:spPr>
        <a:xfrm>
          <a:off x="482795" y="363763"/>
          <a:ext cx="878668" cy="8778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B82146-CB95-44B6-B127-0637BCFCD053}">
      <dsp:nvSpPr>
        <dsp:cNvPr id="0" name=""/>
        <dsp:cNvSpPr/>
      </dsp:nvSpPr>
      <dsp:spPr>
        <a:xfrm>
          <a:off x="1844259" y="4659"/>
          <a:ext cx="10250859" cy="159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7" tIns="169077" rIns="169077" bIns="169077" numCol="1" spcCol="1270" anchor="ctr" anchorCtr="0">
          <a:noAutofit/>
        </a:bodyPr>
        <a:lstStyle/>
        <a:p>
          <a:pPr marL="0" lvl="0" indent="0" algn="l" defTabSz="800100">
            <a:lnSpc>
              <a:spcPct val="100000"/>
            </a:lnSpc>
            <a:spcBef>
              <a:spcPct val="0"/>
            </a:spcBef>
            <a:spcAft>
              <a:spcPct val="35000"/>
            </a:spcAft>
            <a:buNone/>
          </a:pPr>
          <a:r>
            <a:rPr lang="en-IN" sz="1800" b="1" kern="1200" dirty="0"/>
            <a:t>Dataset:</a:t>
          </a:r>
          <a:r>
            <a:rPr lang="en-IN" sz="1800" kern="1200" dirty="0"/>
            <a:t> Project task data will be collected from </a:t>
          </a:r>
          <a:r>
            <a:rPr lang="en-IN" sz="1800" b="1" kern="1200" dirty="0"/>
            <a:t>SharePoint Lists, Microsoft Planner, and Excel-based project trackers</a:t>
          </a:r>
          <a:r>
            <a:rPr lang="en-IN" sz="1800" kern="1200" dirty="0"/>
            <a:t> with an estimated size of </a:t>
          </a:r>
          <a:r>
            <a:rPr lang="en-IN" sz="1800" b="1" kern="1200" dirty="0"/>
            <a:t>500-5,000 records</a:t>
          </a:r>
          <a:r>
            <a:rPr lang="en-IN" sz="1800" kern="1200" dirty="0"/>
            <a:t>. Key attributes include </a:t>
          </a:r>
          <a:r>
            <a:rPr lang="en-IN" sz="1800" b="1" kern="1200" dirty="0"/>
            <a:t>Project Name, Task Name, Owner, Status, Priority, and Due Date</a:t>
          </a:r>
          <a:r>
            <a:rPr lang="en-IN" sz="1800" kern="1200" dirty="0"/>
            <a:t>. This data will be used to identify delayed tasks, assess project health, detect risks, generate recommendations, and automate stakeholder notifications.</a:t>
          </a:r>
          <a:endParaRPr lang="en-US" sz="1800" kern="1200" dirty="0"/>
        </a:p>
      </dsp:txBody>
      <dsp:txXfrm>
        <a:off x="1844259" y="4659"/>
        <a:ext cx="10250859" cy="1597578"/>
      </dsp:txXfrm>
    </dsp:sp>
    <dsp:sp modelId="{C7874E14-4C82-4670-BE54-76B29CD874D2}">
      <dsp:nvSpPr>
        <dsp:cNvPr id="0" name=""/>
        <dsp:cNvSpPr/>
      </dsp:nvSpPr>
      <dsp:spPr>
        <a:xfrm>
          <a:off x="0" y="1978138"/>
          <a:ext cx="12192000" cy="1596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0EDB1B-0F7F-4FCC-B4FA-CFC8DDFF94A0}">
      <dsp:nvSpPr>
        <dsp:cNvPr id="0" name=""/>
        <dsp:cNvSpPr/>
      </dsp:nvSpPr>
      <dsp:spPr>
        <a:xfrm>
          <a:off x="482795" y="2337242"/>
          <a:ext cx="878668" cy="8778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A64103-C4D5-4BD7-8008-8F055D50FDFF}">
      <dsp:nvSpPr>
        <dsp:cNvPr id="0" name=""/>
        <dsp:cNvSpPr/>
      </dsp:nvSpPr>
      <dsp:spPr>
        <a:xfrm>
          <a:off x="1844259" y="1978138"/>
          <a:ext cx="10250859" cy="159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7" tIns="169077" rIns="169077" bIns="169077" numCol="1" spcCol="1270" anchor="ctr" anchorCtr="0">
          <a:noAutofit/>
        </a:bodyPr>
        <a:lstStyle/>
        <a:p>
          <a:pPr marL="0" lvl="0" indent="0" algn="l" defTabSz="800100">
            <a:lnSpc>
              <a:spcPct val="100000"/>
            </a:lnSpc>
            <a:spcBef>
              <a:spcPct val="0"/>
            </a:spcBef>
            <a:spcAft>
              <a:spcPct val="35000"/>
            </a:spcAft>
            <a:buNone/>
          </a:pPr>
          <a:endParaRPr lang="en-IN" sz="1800" b="1" kern="1200" dirty="0"/>
        </a:p>
        <a:p>
          <a:pPr marL="0" lvl="0" indent="0" algn="l" defTabSz="800100">
            <a:lnSpc>
              <a:spcPct val="100000"/>
            </a:lnSpc>
            <a:spcBef>
              <a:spcPct val="0"/>
            </a:spcBef>
            <a:spcAft>
              <a:spcPct val="35000"/>
            </a:spcAft>
            <a:buNone/>
          </a:pPr>
          <a:endParaRPr lang="en-IN" sz="1800" b="1" kern="1200" dirty="0"/>
        </a:p>
        <a:p>
          <a:pPr marL="0" lvl="0" indent="0" algn="l" defTabSz="800100">
            <a:lnSpc>
              <a:spcPct val="100000"/>
            </a:lnSpc>
            <a:spcBef>
              <a:spcPct val="0"/>
            </a:spcBef>
            <a:spcAft>
              <a:spcPct val="35000"/>
            </a:spcAft>
            <a:buNone/>
          </a:pPr>
          <a:r>
            <a:rPr lang="en-IN" sz="1800" b="1" kern="1200" dirty="0"/>
            <a:t>Technical Stack:</a:t>
          </a:r>
          <a:r>
            <a:rPr lang="en-IN" sz="1800" kern="1200" dirty="0"/>
            <a:t> </a:t>
          </a:r>
          <a:r>
            <a:rPr lang="en-IN" sz="1800" b="0" i="0" kern="1200" dirty="0"/>
            <a:t>The solution will use </a:t>
          </a:r>
          <a:r>
            <a:rPr lang="en-IN" sz="1800" b="1" i="0" kern="1200" dirty="0"/>
            <a:t>Microsoft Copilot Studio</a:t>
          </a:r>
          <a:r>
            <a:rPr lang="en-IN" sz="1800" b="0" i="0" kern="1200" dirty="0"/>
            <a:t> for Agentic AI reasoning and recommendation generation, </a:t>
          </a:r>
          <a:r>
            <a:rPr lang="en-IN" sz="1800" b="1" i="0" kern="1200" dirty="0"/>
            <a:t>Power Automate</a:t>
          </a:r>
          <a:r>
            <a:rPr lang="en-IN" sz="1800" b="0" i="0" kern="1200" dirty="0"/>
            <a:t> for workflow automation, </a:t>
          </a:r>
          <a:r>
            <a:rPr lang="en-IN" sz="1800" b="1" i="0" kern="1200" dirty="0"/>
            <a:t>SharePoint Online and Microsoft Planner</a:t>
          </a:r>
          <a:r>
            <a:rPr lang="en-IN" sz="1800" b="0" i="0" kern="1200" dirty="0"/>
            <a:t> as data sources, </a:t>
          </a:r>
          <a:r>
            <a:rPr lang="en-IN" sz="1800" b="1" i="0" kern="1200" dirty="0"/>
            <a:t>Microsoft Teams and Outlook</a:t>
          </a:r>
          <a:r>
            <a:rPr lang="en-IN" sz="1800" b="0" i="0" kern="1200" dirty="0"/>
            <a:t> for notifications, and </a:t>
          </a:r>
          <a:r>
            <a:rPr lang="en-IN" sz="1800" b="1" i="0" kern="1200" dirty="0"/>
            <a:t>Power BI</a:t>
          </a:r>
          <a:r>
            <a:rPr lang="en-IN" sz="1800" b="0" i="0" kern="1200" dirty="0"/>
            <a:t> (optional) for dashboards and visualization. </a:t>
          </a:r>
          <a:r>
            <a:rPr lang="en-IN" sz="1800" b="1" i="0" kern="1200" dirty="0"/>
            <a:t>Azure OpenAI (GPT-4o)</a:t>
          </a:r>
          <a:r>
            <a:rPr lang="en-IN" sz="1800" b="0" i="0" kern="1200" dirty="0"/>
            <a:t> may be integrated as an optional enhancement to improve advanced reasoning, predictive risk analysis, and recommendation quality.</a:t>
          </a:r>
        </a:p>
        <a:p>
          <a:pPr marL="0" lvl="0" indent="0" algn="l" defTabSz="800100">
            <a:lnSpc>
              <a:spcPct val="100000"/>
            </a:lnSpc>
            <a:spcBef>
              <a:spcPct val="0"/>
            </a:spcBef>
            <a:spcAft>
              <a:spcPct val="35000"/>
            </a:spcAft>
            <a:buNone/>
          </a:pPr>
          <a:endParaRPr lang="en-IN" sz="1800" kern="1200" dirty="0"/>
        </a:p>
        <a:p>
          <a:pPr marL="0" lvl="0" indent="0" algn="l" defTabSz="800100">
            <a:lnSpc>
              <a:spcPct val="100000"/>
            </a:lnSpc>
            <a:spcBef>
              <a:spcPct val="0"/>
            </a:spcBef>
            <a:spcAft>
              <a:spcPct val="35000"/>
            </a:spcAft>
            <a:buNone/>
          </a:pPr>
          <a:endParaRPr lang="en-US" sz="1800" kern="1200" dirty="0"/>
        </a:p>
      </dsp:txBody>
      <dsp:txXfrm>
        <a:off x="1844259" y="1978138"/>
        <a:ext cx="10250859" cy="1597578"/>
      </dsp:txXfrm>
    </dsp:sp>
    <dsp:sp modelId="{7778F566-0A1B-46DE-9A2C-09A3BF7A4488}">
      <dsp:nvSpPr>
        <dsp:cNvPr id="0" name=""/>
        <dsp:cNvSpPr/>
      </dsp:nvSpPr>
      <dsp:spPr>
        <a:xfrm>
          <a:off x="0" y="3951618"/>
          <a:ext cx="12192000" cy="1596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922EF-D18A-4001-922C-5F5F65551329}">
      <dsp:nvSpPr>
        <dsp:cNvPr id="0" name=""/>
        <dsp:cNvSpPr/>
      </dsp:nvSpPr>
      <dsp:spPr>
        <a:xfrm>
          <a:off x="482795" y="4310722"/>
          <a:ext cx="878668" cy="8778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25D4D2-9E44-4256-9A8F-C6D622EB6D41}">
      <dsp:nvSpPr>
        <dsp:cNvPr id="0" name=""/>
        <dsp:cNvSpPr/>
      </dsp:nvSpPr>
      <dsp:spPr>
        <a:xfrm>
          <a:off x="1844259" y="3951618"/>
          <a:ext cx="10250859" cy="159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7" tIns="169077" rIns="169077" bIns="169077" numCol="1" spcCol="1270" anchor="ctr" anchorCtr="0">
          <a:noAutofit/>
        </a:bodyPr>
        <a:lstStyle/>
        <a:p>
          <a:pPr marL="0" lvl="0" indent="0" algn="l" defTabSz="800100">
            <a:lnSpc>
              <a:spcPct val="100000"/>
            </a:lnSpc>
            <a:spcBef>
              <a:spcPct val="0"/>
            </a:spcBef>
            <a:spcAft>
              <a:spcPct val="35000"/>
            </a:spcAft>
            <a:buNone/>
          </a:pPr>
          <a:r>
            <a:rPr lang="en-IN" sz="1800" b="1" kern="1200" dirty="0"/>
            <a:t>Expected Outcomes:</a:t>
          </a:r>
          <a:r>
            <a:rPr lang="en-IN" sz="1800" kern="1200" dirty="0"/>
            <a:t> The system will automatically monitor project progress, classify project health as </a:t>
          </a:r>
          <a:r>
            <a:rPr lang="en-IN" sz="1800" b="1" kern="1200" dirty="0"/>
            <a:t>Green/Amber/Red</a:t>
          </a:r>
          <a:r>
            <a:rPr lang="en-IN" sz="1800" kern="1200" dirty="0"/>
            <a:t>, detect risks and delays early, generate actionable mitigation recommendations, automate Teams and email reports, reduce manual project monitoring effort, and improve project governance and decision-making within the Microsoft 365 ecosystem.</a:t>
          </a:r>
          <a:endParaRPr lang="en-US" sz="1800" kern="1200" dirty="0"/>
        </a:p>
      </dsp:txBody>
      <dsp:txXfrm>
        <a:off x="1844259" y="3951618"/>
        <a:ext cx="10250859" cy="15975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95910-4272-E3BB-4357-F4FC5671303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6CB8AFD4-F9E9-F3B7-8104-EE5BD96735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29866C1B-9045-2250-1835-7AFA9424C8FF}"/>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6A026644-935A-652F-F5A9-8BB53CD1D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783EFB-6BEF-7622-85AC-F495EC3A965E}"/>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039575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01A9-CFFB-D513-17E4-EFF073DB5F29}"/>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7D978181-C2B2-CDB5-CB83-3E25A91665A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A1B05EC-0C08-7DAF-DCE4-41B3FB3ECD02}"/>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C523672B-A1AC-F5C5-5A82-318054831F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0B87C3-6B55-5458-9BCD-746FADBEA5DB}"/>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1124792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02E7-BC83-638C-C813-C2622730339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FDDF1347-2841-D4F8-4E3C-50806A78CB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E05C762-EFD6-CBA6-316F-70857FC0D5B6}"/>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3E31959C-DD54-F7F4-90F8-9CEDD78179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9CB17C-10B3-983F-B5B9-E88268BE50A1}"/>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921737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A95F0-952E-F4DC-1A4C-D196F9F74456}"/>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2AFFEB6-2EAA-F196-EADE-73D7B93AE6C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8FA5F8A3-E1BC-7568-F0F2-19D6AEC02B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6B78AC0E-F828-6B34-A838-C639223A7E0A}"/>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6" name="Footer Placeholder 5">
            <a:extLst>
              <a:ext uri="{FF2B5EF4-FFF2-40B4-BE49-F238E27FC236}">
                <a16:creationId xmlns:a16="http://schemas.microsoft.com/office/drawing/2014/main" id="{1241B212-607A-354F-9EA1-F46D6571A6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FE028-B0E0-4B47-66FA-8EDEC02D8CB3}"/>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83960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4D457-11AE-6535-BB22-E7585AEAF3DC}"/>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CFB0610E-F796-15D1-24CD-FBB22F718D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DC855B8-671D-B172-57CE-306F775E8ED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429A0816-6524-A0AA-F936-8C752D49C2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34B7264-74E4-E314-2662-FA40FD1D062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D369DE3E-CBF7-0A1C-C5F6-F4393163D877}"/>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8" name="Footer Placeholder 7">
            <a:extLst>
              <a:ext uri="{FF2B5EF4-FFF2-40B4-BE49-F238E27FC236}">
                <a16:creationId xmlns:a16="http://schemas.microsoft.com/office/drawing/2014/main" id="{62C0CCCA-32CF-528D-01DC-6599871420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43FE35-E900-21C6-BEA1-4FCF241A79EB}"/>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595981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231F-0EF1-D930-4AA6-31BE517E2310}"/>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FA88DD80-0DF1-9B73-E1E4-7E978C5EA15D}"/>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4" name="Footer Placeholder 3">
            <a:extLst>
              <a:ext uri="{FF2B5EF4-FFF2-40B4-BE49-F238E27FC236}">
                <a16:creationId xmlns:a16="http://schemas.microsoft.com/office/drawing/2014/main" id="{E5E371F5-3940-5355-E8EA-06C8C4290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662623-D1DE-4F5E-E67A-6B52B16A30C7}"/>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367192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819970-517E-4EAA-73A1-3DC2D4820F7C}"/>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3" name="Footer Placeholder 2">
            <a:extLst>
              <a:ext uri="{FF2B5EF4-FFF2-40B4-BE49-F238E27FC236}">
                <a16:creationId xmlns:a16="http://schemas.microsoft.com/office/drawing/2014/main" id="{F90BFB04-7173-AD23-530D-34E36DFD7C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DC50B9-D034-0AFD-9B02-8FAC85D27A57}"/>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1102488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B8B4B-F49E-1F0B-EEED-C61B2269EF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3ACBAC1-F2DD-C0E8-BDA0-0FDA703B4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9A184ED1-94B3-058D-3D8F-981E9D46E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6D4D8A8-5906-8D39-33B3-A89259CEE649}"/>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6" name="Footer Placeholder 5">
            <a:extLst>
              <a:ext uri="{FF2B5EF4-FFF2-40B4-BE49-F238E27FC236}">
                <a16:creationId xmlns:a16="http://schemas.microsoft.com/office/drawing/2014/main" id="{1B57B7D1-2E55-B800-3101-D900CDB9F2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F12BB1-38DC-01BA-2B72-E97EDDB7FDBA}"/>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368683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9E636-F715-CF92-48A7-12DA6EE901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4F7A2374-2B0E-D0B9-0A21-C02E3EA48C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DE4529-DC16-358D-2527-333620DF3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1749CF-4869-BABA-536F-0CEDFEC3DBFD}"/>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6" name="Footer Placeholder 5">
            <a:extLst>
              <a:ext uri="{FF2B5EF4-FFF2-40B4-BE49-F238E27FC236}">
                <a16:creationId xmlns:a16="http://schemas.microsoft.com/office/drawing/2014/main" id="{BD0FC800-F783-9F7A-88EB-F58DB831F4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A69AB8-4A18-6FED-42A4-41BB9EAE429A}"/>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160139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74F0-B7D7-BF18-B056-8E8E4BFB954E}"/>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5820C75F-8CAD-BBCB-1FC9-3761D8D8856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53E88BD-20A2-324B-1101-83877CD4AE72}"/>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8ECDBE47-B571-D6E9-AFD3-290DEFC75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0C6B8C-81EF-C730-D61A-DB077F7DB9C1}"/>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41509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393EA-8068-8A4D-86A0-6F07CEA842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5DDA0C93-CB9D-52BB-2286-AC71968730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79F2093-C26F-29F4-466C-26C38490A8EE}"/>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50E14BEE-2E43-F1AA-6DDA-F2C6D28DA8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6D9239-9A10-15E0-7C2B-CCF48FA17D34}"/>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893208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E2DBF1-E478-BD0D-1F86-1F6FDB80F2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5D5165B-D9CA-1E41-4FC5-7F325DD829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EE125A8-DDF3-1AD1-D06D-142D51992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29C8D6DA-7BA2-F36D-980E-B2A46A65E1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5509D80-88BC-843B-21FB-01E5C5517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A0628D-2183-48FE-8FAA-954C9C72A66F}" type="slidenum">
              <a:rPr lang="en-IN" smtClean="0"/>
              <a:t>‹#›</a:t>
            </a:fld>
            <a:endParaRPr lang="en-IN"/>
          </a:p>
        </p:txBody>
      </p:sp>
    </p:spTree>
    <p:extLst>
      <p:ext uri="{BB962C8B-B14F-4D97-AF65-F5344CB8AC3E}">
        <p14:creationId xmlns:p14="http://schemas.microsoft.com/office/powerpoint/2010/main" val="1027018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1A1B55-0047-B03C-BD2C-4231191F3E4A}"/>
              </a:ext>
            </a:extLst>
          </p:cNvPr>
          <p:cNvSpPr>
            <a:spLocks noGrp="1"/>
          </p:cNvSpPr>
          <p:nvPr>
            <p:ph type="ctrTitle"/>
          </p:nvPr>
        </p:nvSpPr>
        <p:spPr>
          <a:xfrm>
            <a:off x="583365" y="215173"/>
            <a:ext cx="11153114" cy="3872331"/>
          </a:xfrm>
        </p:spPr>
        <p:txBody>
          <a:bodyPr>
            <a:normAutofit/>
          </a:bodyPr>
          <a:lstStyle/>
          <a:p>
            <a:pPr algn="l"/>
            <a:r>
              <a:rPr lang="en-IN" sz="3700" dirty="0">
                <a:solidFill>
                  <a:srgbClr val="FFFFFF"/>
                </a:solidFill>
              </a:rPr>
              <a:t>Project 1: Real-Time DevOps Incident Triage and Auto-Remediation Agent Using Multi-Agent LLMs, Retrieval-Augmented Generation (RAG), and Kubernetes</a:t>
            </a:r>
            <a:br>
              <a:rPr lang="en-IN" sz="3700" dirty="0">
                <a:solidFill>
                  <a:srgbClr val="FFFFFF"/>
                </a:solidFill>
              </a:rPr>
            </a:br>
            <a:br>
              <a:rPr lang="en-IN" sz="3700" dirty="0">
                <a:solidFill>
                  <a:srgbClr val="FFFFFF"/>
                </a:solidFill>
              </a:rPr>
            </a:br>
            <a:r>
              <a:rPr lang="en-IN" sz="3700" dirty="0">
                <a:solidFill>
                  <a:srgbClr val="FFFFFF"/>
                </a:solidFill>
              </a:rPr>
              <a:t>Project 2: </a:t>
            </a:r>
            <a:r>
              <a:rPr lang="en-IN" sz="4000" dirty="0">
                <a:solidFill>
                  <a:schemeClr val="bg1"/>
                </a:solidFill>
              </a:rPr>
              <a:t>Agentic AI-Based Project Health and Risk Monitoring System for Automated Project Governance</a:t>
            </a:r>
            <a:br>
              <a:rPr lang="en-IN" sz="4000" dirty="0">
                <a:solidFill>
                  <a:schemeClr val="bg1"/>
                </a:solidFill>
              </a:rPr>
            </a:br>
            <a:r>
              <a:rPr lang="en-IN" sz="3700" dirty="0">
                <a:solidFill>
                  <a:srgbClr val="FFFFFF"/>
                </a:solidFill>
              </a:rPr>
              <a:t> </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8B0D8BD-F111-B861-D860-82F3E4DB0A86}"/>
              </a:ext>
            </a:extLst>
          </p:cNvPr>
          <p:cNvSpPr>
            <a:spLocks noGrp="1"/>
          </p:cNvSpPr>
          <p:nvPr>
            <p:ph type="subTitle" idx="1"/>
          </p:nvPr>
        </p:nvSpPr>
        <p:spPr>
          <a:xfrm>
            <a:off x="1931874" y="4797188"/>
            <a:ext cx="8681162" cy="1241828"/>
          </a:xfrm>
        </p:spPr>
        <p:txBody>
          <a:bodyPr>
            <a:normAutofit/>
          </a:bodyPr>
          <a:lstStyle/>
          <a:p>
            <a:r>
              <a:rPr lang="en-GB" dirty="0">
                <a:solidFill>
                  <a:srgbClr val="FFFFFF"/>
                </a:solidFill>
              </a:rPr>
              <a:t>NOEL JACOB BIJU</a:t>
            </a:r>
          </a:p>
          <a:p>
            <a:r>
              <a:rPr lang="en-GB" dirty="0">
                <a:solidFill>
                  <a:srgbClr val="FFFFFF"/>
                </a:solidFill>
              </a:rPr>
              <a:t>VIT CHENNAI</a:t>
            </a:r>
            <a:endParaRPr lang="en-IN" dirty="0">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87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43D83-298B-C3E0-27E6-5AB6DB21D454}"/>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rPr>
              <a:t>PROBLEM STATEMENT &amp; OBJECTIVES</a:t>
            </a:r>
          </a:p>
        </p:txBody>
      </p:sp>
      <p:sp>
        <p:nvSpPr>
          <p:cNvPr id="3" name="Content Placeholder 2">
            <a:extLst>
              <a:ext uri="{FF2B5EF4-FFF2-40B4-BE49-F238E27FC236}">
                <a16:creationId xmlns:a16="http://schemas.microsoft.com/office/drawing/2014/main" id="{C45BD66B-B0F9-0EC3-3526-F4CF3D3D90D5}"/>
              </a:ext>
            </a:extLst>
          </p:cNvPr>
          <p:cNvSpPr>
            <a:spLocks noGrp="1"/>
          </p:cNvSpPr>
          <p:nvPr>
            <p:ph idx="1"/>
          </p:nvPr>
        </p:nvSpPr>
        <p:spPr>
          <a:xfrm>
            <a:off x="4037826" y="10138"/>
            <a:ext cx="8154173" cy="6858000"/>
          </a:xfrm>
        </p:spPr>
        <p:txBody>
          <a:bodyPr anchor="ctr">
            <a:normAutofit/>
          </a:bodyPr>
          <a:lstStyle/>
          <a:p>
            <a:pPr fontAlgn="t">
              <a:buNone/>
            </a:pPr>
            <a:r>
              <a:rPr lang="en-IN" sz="1200" b="1" dirty="0"/>
              <a:t>Problem Statement</a:t>
            </a:r>
          </a:p>
          <a:p>
            <a:pPr fontAlgn="t">
              <a:buNone/>
            </a:pPr>
            <a:r>
              <a:rPr lang="en-IN" sz="1200" dirty="0"/>
              <a:t>Modern cloud-native applications deployed on Kubernetes generate massive volumes of logs, metrics, alerts, and traces. DevOps and SRE teams spend significant time manually identifying root causes, searching for relevant runbooks, and performing remediation actions. This results in increased </a:t>
            </a:r>
            <a:r>
              <a:rPr lang="en-IN" sz="1200" b="1" dirty="0"/>
              <a:t>Mean Time to Resolution (MTTR)</a:t>
            </a:r>
            <a:r>
              <a:rPr lang="en-IN" sz="1200" dirty="0"/>
              <a:t>, alert fatigue, service downtime, and operational inefficiencies. Existing monitoring tools primarily focus on incident detection and alerting, with limited support for intelligent diagnosis and autonomous recovery.</a:t>
            </a:r>
          </a:p>
          <a:p>
            <a:pPr fontAlgn="t">
              <a:buNone/>
            </a:pPr>
            <a:r>
              <a:rPr lang="en-IN" sz="1200" b="1" dirty="0"/>
              <a:t>Project Objectives</a:t>
            </a:r>
          </a:p>
          <a:p>
            <a:pPr fontAlgn="t">
              <a:buNone/>
            </a:pPr>
            <a:r>
              <a:rPr lang="en-IN" sz="1200" b="1" dirty="0"/>
              <a:t>Objective 1: Automated Incident Triage</a:t>
            </a:r>
            <a:endParaRPr lang="en-IN" sz="1200" dirty="0"/>
          </a:p>
          <a:p>
            <a:pPr marL="342900" lvl="0" indent="-342900" fontAlgn="t"/>
            <a:r>
              <a:rPr lang="en-IN" sz="1200" dirty="0"/>
              <a:t>Automatically classify and prioritize incidents based on severity, impacted service, and operational context.</a:t>
            </a:r>
          </a:p>
          <a:p>
            <a:pPr marL="342900" lvl="0" indent="-342900" fontAlgn="t"/>
            <a:r>
              <a:rPr lang="en-IN" sz="1200" dirty="0"/>
              <a:t>Reduce the time required for initial incident assessment.</a:t>
            </a:r>
          </a:p>
          <a:p>
            <a:pPr fontAlgn="t">
              <a:buNone/>
            </a:pPr>
            <a:r>
              <a:rPr lang="en-IN" sz="1200" b="1" dirty="0"/>
              <a:t>Objective 2: AI-Based Root Cause Analysis (RCA)</a:t>
            </a:r>
            <a:endParaRPr lang="en-IN" sz="1200" dirty="0"/>
          </a:p>
          <a:p>
            <a:pPr marL="342900" lvl="0" indent="-342900" fontAlgn="t"/>
            <a:r>
              <a:rPr lang="en-IN" sz="1200" dirty="0" err="1"/>
              <a:t>Analyze</a:t>
            </a:r>
            <a:r>
              <a:rPr lang="en-IN" sz="1200" dirty="0"/>
              <a:t> logs, metrics, and alerts using Multi-Agent AI and LLMs to identify probable root causes.</a:t>
            </a:r>
          </a:p>
          <a:p>
            <a:pPr marL="342900" lvl="0" indent="-342900" fontAlgn="t"/>
            <a:r>
              <a:rPr lang="en-IN" sz="1200" dirty="0"/>
              <a:t>Improve diagnosis accuracy and reduce manual investigation effort.</a:t>
            </a:r>
          </a:p>
          <a:p>
            <a:pPr fontAlgn="t">
              <a:buNone/>
            </a:pPr>
            <a:r>
              <a:rPr lang="en-IN" sz="1200" b="1" dirty="0"/>
              <a:t>Objective 3: Runbook Retrieval using RAG</a:t>
            </a:r>
            <a:endParaRPr lang="en-IN" sz="1200" dirty="0"/>
          </a:p>
          <a:p>
            <a:pPr marL="342900" lvl="0" indent="-342900" fontAlgn="t"/>
            <a:r>
              <a:rPr lang="en-IN" sz="1200" dirty="0"/>
              <a:t>Retrieve relevant operational runbooks and historical resolutions from a vector database using semantic search.</a:t>
            </a:r>
          </a:p>
          <a:p>
            <a:pPr marL="342900" lvl="0" indent="-342900" fontAlgn="t"/>
            <a:r>
              <a:rPr lang="en-IN" sz="1200" dirty="0"/>
              <a:t>Provide context-aware remediation recommendations.</a:t>
            </a:r>
          </a:p>
          <a:p>
            <a:pPr fontAlgn="t">
              <a:buNone/>
            </a:pPr>
            <a:r>
              <a:rPr lang="en-IN" sz="1200" b="1" dirty="0"/>
              <a:t>Objective 4: Kubernetes Auto-Remediation</a:t>
            </a:r>
            <a:endParaRPr lang="en-IN" sz="1200" dirty="0"/>
          </a:p>
          <a:p>
            <a:pPr marL="342900" lvl="0" indent="-342900" fontAlgn="t"/>
            <a:r>
              <a:rPr lang="en-IN" sz="1200" dirty="0"/>
              <a:t>Execute safe recovery actions such as pod restart, deployment restart, or auto-scaling based on retrieved runbooks and AI recommendations.</a:t>
            </a:r>
          </a:p>
          <a:p>
            <a:pPr marL="342900" lvl="0" indent="-342900" fontAlgn="t"/>
            <a:r>
              <a:rPr lang="en-IN" sz="1200" dirty="0"/>
              <a:t>Reduce dependency on manual operational intervention.</a:t>
            </a:r>
          </a:p>
          <a:p>
            <a:pPr fontAlgn="t">
              <a:buNone/>
            </a:pPr>
            <a:r>
              <a:rPr lang="en-IN" sz="1200" b="1" dirty="0"/>
              <a:t>Objective 5: MTTR Reduction</a:t>
            </a:r>
            <a:endParaRPr lang="en-IN" sz="1200" dirty="0"/>
          </a:p>
          <a:p>
            <a:pPr marL="342900" lvl="0" indent="-342900" fontAlgn="t"/>
            <a:r>
              <a:rPr lang="en-IN" sz="1200" dirty="0"/>
              <a:t>Achieve at least a </a:t>
            </a:r>
            <a:r>
              <a:rPr lang="en-IN" sz="1200" b="1" dirty="0"/>
              <a:t>30% reduction in Mean Time to Resolution (MTTR)</a:t>
            </a:r>
            <a:r>
              <a:rPr lang="en-IN" sz="1200" dirty="0"/>
              <a:t> compared to traditional incident management workflows.</a:t>
            </a:r>
          </a:p>
        </p:txBody>
      </p:sp>
    </p:spTree>
    <p:extLst>
      <p:ext uri="{BB962C8B-B14F-4D97-AF65-F5344CB8AC3E}">
        <p14:creationId xmlns:p14="http://schemas.microsoft.com/office/powerpoint/2010/main" val="2722617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6B067-1AAF-CC39-6CBF-4BC142330DA8}"/>
              </a:ext>
            </a:extLst>
          </p:cNvPr>
          <p:cNvSpPr>
            <a:spLocks noGrp="1"/>
          </p:cNvSpPr>
          <p:nvPr>
            <p:ph type="title"/>
          </p:nvPr>
        </p:nvSpPr>
        <p:spPr>
          <a:xfrm>
            <a:off x="466722" y="586855"/>
            <a:ext cx="3201366" cy="3387497"/>
          </a:xfrm>
        </p:spPr>
        <p:txBody>
          <a:bodyPr anchor="b">
            <a:normAutofit/>
          </a:bodyPr>
          <a:lstStyle/>
          <a:p>
            <a:pPr algn="r"/>
            <a:r>
              <a:rPr lang="en-IN" sz="2500">
                <a:solidFill>
                  <a:srgbClr val="FFFFFF"/>
                </a:solidFill>
              </a:rPr>
              <a:t>DATASETS,TECHNICAL STACK AND EXPECTED OUTCOME</a:t>
            </a:r>
          </a:p>
        </p:txBody>
      </p:sp>
      <p:sp>
        <p:nvSpPr>
          <p:cNvPr id="3" name="Content Placeholder 2">
            <a:extLst>
              <a:ext uri="{FF2B5EF4-FFF2-40B4-BE49-F238E27FC236}">
                <a16:creationId xmlns:a16="http://schemas.microsoft.com/office/drawing/2014/main" id="{1A871738-BA56-887A-F350-14DA1AF715E2}"/>
              </a:ext>
            </a:extLst>
          </p:cNvPr>
          <p:cNvSpPr>
            <a:spLocks noGrp="1"/>
          </p:cNvSpPr>
          <p:nvPr>
            <p:ph idx="1"/>
          </p:nvPr>
        </p:nvSpPr>
        <p:spPr>
          <a:xfrm>
            <a:off x="4037826" y="10138"/>
            <a:ext cx="8154173" cy="6837724"/>
          </a:xfrm>
        </p:spPr>
        <p:txBody>
          <a:bodyPr anchor="ctr">
            <a:normAutofit/>
          </a:bodyPr>
          <a:lstStyle/>
          <a:p>
            <a:pPr fontAlgn="t">
              <a:buNone/>
            </a:pPr>
            <a:r>
              <a:rPr lang="en-IN" sz="1600" dirty="0"/>
              <a:t>The proposed system utilizes the </a:t>
            </a:r>
            <a:r>
              <a:rPr lang="en-IN" sz="1600" b="1" dirty="0" err="1"/>
              <a:t>LogHub</a:t>
            </a:r>
            <a:r>
              <a:rPr lang="en-IN" sz="1600" b="1" dirty="0"/>
              <a:t> Dataset</a:t>
            </a:r>
            <a:r>
              <a:rPr lang="en-IN" sz="1600" dirty="0"/>
              <a:t> (containing large-scale system logs from HDFS, Hadoop, Spark, Linux, and OpenStack) and the </a:t>
            </a:r>
            <a:r>
              <a:rPr lang="en-IN" sz="1600" b="1" dirty="0"/>
              <a:t>AIOps Challenge Dataset</a:t>
            </a:r>
            <a:r>
              <a:rPr lang="en-IN" sz="1600" dirty="0"/>
              <a:t> (containing infrastructure metrics, traces, and failure records) to perform log analysis, anomaly detection, incident classification, and root cause analysis. Additionally, a </a:t>
            </a:r>
            <a:r>
              <a:rPr lang="en-IN" sz="1600" b="1" dirty="0"/>
              <a:t>Synthetic Runbook Dataset</a:t>
            </a:r>
            <a:r>
              <a:rPr lang="en-IN" sz="1600" dirty="0"/>
              <a:t> consisting of 50–100 operational runbooks (e.g., </a:t>
            </a:r>
            <a:r>
              <a:rPr lang="en-IN" sz="1600" dirty="0" err="1"/>
              <a:t>CrashLoopBackOff</a:t>
            </a:r>
            <a:r>
              <a:rPr lang="en-IN" sz="1600" dirty="0"/>
              <a:t>, </a:t>
            </a:r>
            <a:r>
              <a:rPr lang="en-IN" sz="1600" dirty="0" err="1"/>
              <a:t>OOMKilled</a:t>
            </a:r>
            <a:r>
              <a:rPr lang="en-IN" sz="1600" dirty="0"/>
              <a:t>, Database Timeout, High CPU Usage) is created to support Retrieval-Augmented Generation (RAG) and remediation planning.</a:t>
            </a:r>
          </a:p>
          <a:p>
            <a:pPr fontAlgn="t">
              <a:buNone/>
            </a:pPr>
            <a:r>
              <a:rPr lang="en-IN" sz="1600" dirty="0"/>
              <a:t>The technical implementation is built using </a:t>
            </a:r>
            <a:r>
              <a:rPr lang="en-IN" sz="1600" b="1" dirty="0"/>
              <a:t>Python</a:t>
            </a:r>
            <a:r>
              <a:rPr lang="en-IN" sz="1600" dirty="0"/>
              <a:t> as the primary programming language, </a:t>
            </a:r>
            <a:r>
              <a:rPr lang="en-IN" sz="1600" b="1" dirty="0" err="1"/>
              <a:t>LangGraph</a:t>
            </a:r>
            <a:r>
              <a:rPr lang="en-IN" sz="1600" b="1" dirty="0"/>
              <a:t>/</a:t>
            </a:r>
            <a:r>
              <a:rPr lang="en-IN" sz="1600" b="1" dirty="0" err="1"/>
              <a:t>CrewAI</a:t>
            </a:r>
            <a:r>
              <a:rPr lang="en-IN" sz="1600" dirty="0"/>
              <a:t> for multi-agent orchestration, </a:t>
            </a:r>
            <a:r>
              <a:rPr lang="en-IN" sz="1600" b="1" dirty="0" err="1"/>
              <a:t>Groq</a:t>
            </a:r>
            <a:r>
              <a:rPr lang="en-IN" sz="1600" b="1" dirty="0"/>
              <a:t> API/OpenAI/</a:t>
            </a:r>
            <a:r>
              <a:rPr lang="en-IN" sz="1600" b="1" dirty="0" err="1"/>
              <a:t>Ollama</a:t>
            </a:r>
            <a:r>
              <a:rPr lang="en-IN" sz="1600" dirty="0"/>
              <a:t> for LLM-based reasoning, </a:t>
            </a:r>
            <a:r>
              <a:rPr lang="en-IN" sz="1600" b="1" dirty="0" err="1"/>
              <a:t>ChromaDB</a:t>
            </a:r>
            <a:r>
              <a:rPr lang="en-IN" sz="1600" b="1" dirty="0"/>
              <a:t>/FAISS</a:t>
            </a:r>
            <a:r>
              <a:rPr lang="en-IN" sz="1600" dirty="0"/>
              <a:t> for vector storage and runbook retrieval, </a:t>
            </a:r>
            <a:r>
              <a:rPr lang="en-IN" sz="1600" b="1" dirty="0" err="1"/>
              <a:t>FastAPI</a:t>
            </a:r>
            <a:r>
              <a:rPr lang="en-IN" sz="1600" b="1" dirty="0"/>
              <a:t> and </a:t>
            </a:r>
            <a:r>
              <a:rPr lang="en-IN" sz="1600" b="1" dirty="0" err="1"/>
              <a:t>WebSockets</a:t>
            </a:r>
            <a:r>
              <a:rPr lang="en-IN" sz="1600" dirty="0"/>
              <a:t> for real-time alert and log processing, </a:t>
            </a:r>
            <a:r>
              <a:rPr lang="en-IN" sz="1600" b="1" dirty="0"/>
              <a:t>Docker and Kubernetes</a:t>
            </a:r>
            <a:r>
              <a:rPr lang="en-IN" sz="1600" dirty="0"/>
              <a:t> for deployment and auto-remediation, and </a:t>
            </a:r>
            <a:r>
              <a:rPr lang="en-IN" sz="1600" b="1" dirty="0"/>
              <a:t>Prometheus/Grafana</a:t>
            </a:r>
            <a:r>
              <a:rPr lang="en-IN" sz="1600" dirty="0"/>
              <a:t> for monitoring and telemetry collection.</a:t>
            </a:r>
          </a:p>
          <a:p>
            <a:pPr fontAlgn="t">
              <a:buNone/>
            </a:pPr>
            <a:r>
              <a:rPr lang="en-IN" sz="1600" dirty="0"/>
              <a:t>The expected outcome is an </a:t>
            </a:r>
            <a:r>
              <a:rPr lang="en-IN" sz="1600" b="1" dirty="0"/>
              <a:t>AI-powered Agentic SRE Copilot</a:t>
            </a:r>
            <a:r>
              <a:rPr lang="en-IN" sz="1600" dirty="0"/>
              <a:t> capable of automatically triaging incidents, performing root cause analysis using logs and metrics, retrieving relevant runbooks through RAG, and executing safe Kubernetes remediation actions such as pod restarts and deployment scaling. The system aims to reduce </a:t>
            </a:r>
            <a:r>
              <a:rPr lang="en-IN" sz="1600" b="1" dirty="0"/>
              <a:t>Mean Time to Resolution (MTTR)</a:t>
            </a:r>
            <a:r>
              <a:rPr lang="en-IN" sz="1600" dirty="0"/>
              <a:t> by at least </a:t>
            </a:r>
            <a:r>
              <a:rPr lang="en-IN" sz="1600" b="1" dirty="0"/>
              <a:t>30%</a:t>
            </a:r>
            <a:r>
              <a:rPr lang="en-IN" sz="1600" dirty="0"/>
              <a:t>, improve service reliability, minimize manual intervention, and enable intelligent self-healing operations in cloud-native environments</a:t>
            </a:r>
            <a:r>
              <a:rPr lang="en-IN" sz="1400" dirty="0"/>
              <a:t>.</a:t>
            </a:r>
          </a:p>
          <a:p>
            <a:pPr marL="0" indent="0">
              <a:buNone/>
            </a:pPr>
            <a:endParaRPr lang="en-IN" sz="1400" dirty="0"/>
          </a:p>
        </p:txBody>
      </p:sp>
    </p:spTree>
    <p:extLst>
      <p:ext uri="{BB962C8B-B14F-4D97-AF65-F5344CB8AC3E}">
        <p14:creationId xmlns:p14="http://schemas.microsoft.com/office/powerpoint/2010/main" val="1306800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E833CE5-4546-483D-8098-A89951C88E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1D06A67-DC2C-DFDB-582A-F1B0DFD416AC}"/>
              </a:ext>
            </a:extLst>
          </p:cNvPr>
          <p:cNvSpPr>
            <a:spLocks noGrp="1"/>
          </p:cNvSpPr>
          <p:nvPr>
            <p:ph type="title"/>
          </p:nvPr>
        </p:nvSpPr>
        <p:spPr>
          <a:xfrm>
            <a:off x="5229509" y="552160"/>
            <a:ext cx="5847781" cy="1046671"/>
          </a:xfrm>
        </p:spPr>
        <p:txBody>
          <a:bodyPr>
            <a:normAutofit/>
          </a:bodyPr>
          <a:lstStyle/>
          <a:p>
            <a:r>
              <a:rPr lang="en-GB" sz="2800" dirty="0"/>
              <a:t>PROBLEM STATEMENT &amp; OBJECTIVES</a:t>
            </a:r>
            <a:endParaRPr lang="en-IN" sz="2800" dirty="0"/>
          </a:p>
        </p:txBody>
      </p:sp>
      <p:sp>
        <p:nvSpPr>
          <p:cNvPr id="30" name="Rectangle 29">
            <a:extLst>
              <a:ext uri="{FF2B5EF4-FFF2-40B4-BE49-F238E27FC236}">
                <a16:creationId xmlns:a16="http://schemas.microsoft.com/office/drawing/2014/main" id="{8587DE20-364E-4BE1-B603-E62BB8A63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4355787" cy="685800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oud Computing">
            <a:extLst>
              <a:ext uri="{FF2B5EF4-FFF2-40B4-BE49-F238E27FC236}">
                <a16:creationId xmlns:a16="http://schemas.microsoft.com/office/drawing/2014/main" id="{7117DAC3-CD88-E4EA-41CF-EB0EF40D2D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8559" y="1539666"/>
            <a:ext cx="3778666" cy="3778666"/>
          </a:xfrm>
          <a:prstGeom prst="rect">
            <a:avLst/>
          </a:prstGeom>
        </p:spPr>
      </p:pic>
      <p:sp>
        <p:nvSpPr>
          <p:cNvPr id="32" name="Rectangle 31">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46485" y="1982602"/>
            <a:ext cx="794004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Content Placeholder 2">
            <a:extLst>
              <a:ext uri="{FF2B5EF4-FFF2-40B4-BE49-F238E27FC236}">
                <a16:creationId xmlns:a16="http://schemas.microsoft.com/office/drawing/2014/main" id="{B5C3E5F8-2FB2-CB99-C338-EE4B5AC0566A}"/>
              </a:ext>
            </a:extLst>
          </p:cNvPr>
          <p:cNvSpPr>
            <a:spLocks noGrp="1"/>
          </p:cNvSpPr>
          <p:nvPr>
            <p:ph idx="1"/>
          </p:nvPr>
        </p:nvSpPr>
        <p:spPr>
          <a:xfrm>
            <a:off x="4355784" y="2046610"/>
            <a:ext cx="7836216" cy="4811390"/>
          </a:xfrm>
        </p:spPr>
        <p:txBody>
          <a:bodyPr anchor="ctr">
            <a:normAutofit/>
          </a:bodyPr>
          <a:lstStyle/>
          <a:p>
            <a:pPr fontAlgn="t">
              <a:buNone/>
            </a:pPr>
            <a:r>
              <a:rPr lang="en-IN" sz="1400" b="1" dirty="0"/>
              <a:t>Problem Statement</a:t>
            </a:r>
          </a:p>
          <a:p>
            <a:pPr fontAlgn="t">
              <a:buNone/>
            </a:pPr>
            <a:r>
              <a:rPr lang="en-IN" sz="1400" dirty="0"/>
              <a:t>Organizations use tools such as SharePoint, Planner, Excel, and Azure DevOps to manage projects. However, project managers still spend considerable time manually reviewing project status, identifying delays, assessing risks, preparing weekly reports, and communicating updates to stakeholders. Existing dashboards provide visibility but lack proactive intelligence, automated decision support, and autonomous risk management.</a:t>
            </a:r>
          </a:p>
          <a:p>
            <a:pPr fontAlgn="t">
              <a:buNone/>
            </a:pPr>
            <a:r>
              <a:rPr lang="en-IN" sz="1400" dirty="0"/>
              <a:t>The proposed solution leverages </a:t>
            </a:r>
            <a:r>
              <a:rPr lang="en-IN" sz="1400" b="1" dirty="0"/>
              <a:t>Agentic AI</a:t>
            </a:r>
            <a:r>
              <a:rPr lang="en-IN" sz="1400" dirty="0"/>
              <a:t> to continuously monitor project data, detect risks and delays, evaluate project health (Green/Amber/Red), generate mitigation recommendations, and automatically notify stakeholders through Microsoft 365 services.</a:t>
            </a:r>
          </a:p>
          <a:p>
            <a:pPr fontAlgn="t">
              <a:buNone/>
            </a:pPr>
            <a:r>
              <a:rPr lang="en-IN" sz="1400" b="1" dirty="0"/>
              <a:t>Objectives</a:t>
            </a:r>
          </a:p>
          <a:p>
            <a:pPr marL="342900" lvl="0" indent="-342900" fontAlgn="t">
              <a:buFont typeface="+mj-lt"/>
              <a:buAutoNum type="arabicPeriod"/>
            </a:pPr>
            <a:r>
              <a:rPr lang="en-IN" sz="1400" b="1" dirty="0"/>
              <a:t>Automate Project Monitoring</a:t>
            </a:r>
            <a:r>
              <a:rPr lang="en-IN" sz="1400" dirty="0"/>
              <a:t> by collecting and </a:t>
            </a:r>
            <a:r>
              <a:rPr lang="en-IN" sz="1400" dirty="0" err="1"/>
              <a:t>analyzing</a:t>
            </a:r>
            <a:r>
              <a:rPr lang="en-IN" sz="1400" dirty="0"/>
              <a:t> project task data from SharePoint and Planner.</a:t>
            </a:r>
          </a:p>
          <a:p>
            <a:pPr marL="342900" lvl="0" indent="-342900" fontAlgn="t">
              <a:buFont typeface="+mj-lt"/>
              <a:buAutoNum type="arabicPeriod"/>
            </a:pPr>
            <a:r>
              <a:rPr lang="en-IN" sz="1400" b="1" dirty="0"/>
              <a:t>Detect Risks and Delays</a:t>
            </a:r>
            <a:r>
              <a:rPr lang="en-IN" sz="1400" dirty="0"/>
              <a:t> by identifying overdue, blocked, or high-priority tasks.</a:t>
            </a:r>
          </a:p>
          <a:p>
            <a:pPr marL="342900" lvl="0" indent="-342900" fontAlgn="t">
              <a:buFont typeface="+mj-lt"/>
              <a:buAutoNum type="arabicPeriod"/>
            </a:pPr>
            <a:r>
              <a:rPr lang="en-IN" sz="1400" b="1" dirty="0"/>
              <a:t>Assess Project Health</a:t>
            </a:r>
            <a:r>
              <a:rPr lang="en-IN" sz="1400" dirty="0"/>
              <a:t> by classifying projects into Green, Amber, or Red status based on predefined rules and AI reasoning.</a:t>
            </a:r>
          </a:p>
          <a:p>
            <a:pPr marL="342900" lvl="0" indent="-342900" fontAlgn="t">
              <a:buFont typeface="+mj-lt"/>
              <a:buAutoNum type="arabicPeriod"/>
            </a:pPr>
            <a:r>
              <a:rPr lang="en-IN" sz="1400" b="1" dirty="0"/>
              <a:t>Generate Actionable Recommendations</a:t>
            </a:r>
            <a:r>
              <a:rPr lang="en-IN" sz="1400" dirty="0"/>
              <a:t> to help project managers mitigate risks and improve project outcomes.</a:t>
            </a:r>
          </a:p>
          <a:p>
            <a:pPr marL="342900" lvl="0" indent="-342900" fontAlgn="t">
              <a:buFont typeface="+mj-lt"/>
              <a:buAutoNum type="arabicPeriod"/>
            </a:pPr>
            <a:r>
              <a:rPr lang="en-IN" sz="1400" b="1" dirty="0"/>
              <a:t>Automate Stakeholder Communication</a:t>
            </a:r>
            <a:r>
              <a:rPr lang="en-IN" sz="1400" dirty="0"/>
              <a:t> through Teams notifications and email reports.</a:t>
            </a:r>
          </a:p>
          <a:p>
            <a:pPr marL="0" indent="0">
              <a:buNone/>
            </a:pPr>
            <a:endParaRPr lang="en-IN" sz="800" dirty="0"/>
          </a:p>
        </p:txBody>
      </p:sp>
    </p:spTree>
    <p:extLst>
      <p:ext uri="{BB962C8B-B14F-4D97-AF65-F5344CB8AC3E}">
        <p14:creationId xmlns:p14="http://schemas.microsoft.com/office/powerpoint/2010/main" val="43243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5E20-FDDB-F0CB-61DE-2DBC04D33D04}"/>
              </a:ext>
            </a:extLst>
          </p:cNvPr>
          <p:cNvSpPr>
            <a:spLocks noGrp="1"/>
          </p:cNvSpPr>
          <p:nvPr>
            <p:ph type="title"/>
          </p:nvPr>
        </p:nvSpPr>
        <p:spPr>
          <a:xfrm>
            <a:off x="0" y="1"/>
            <a:ext cx="12192000" cy="1304143"/>
          </a:xfrm>
        </p:spPr>
        <p:txBody>
          <a:bodyPr>
            <a:normAutofit/>
          </a:bodyPr>
          <a:lstStyle/>
          <a:p>
            <a:pPr algn="ctr"/>
            <a:r>
              <a:rPr lang="en-GB" dirty="0"/>
              <a:t>DATASET,TECHNICAL STACK AND EXPECTED OUTCOMES</a:t>
            </a:r>
            <a:endParaRPr lang="en-IN" dirty="0"/>
          </a:p>
        </p:txBody>
      </p:sp>
      <p:graphicFrame>
        <p:nvGraphicFramePr>
          <p:cNvPr id="7" name="Content Placeholder 2">
            <a:extLst>
              <a:ext uri="{FF2B5EF4-FFF2-40B4-BE49-F238E27FC236}">
                <a16:creationId xmlns:a16="http://schemas.microsoft.com/office/drawing/2014/main" id="{F0CE0153-9578-F1F8-1085-58FA2A9DAB8E}"/>
              </a:ext>
            </a:extLst>
          </p:cNvPr>
          <p:cNvGraphicFramePr>
            <a:graphicFrameLocks noGrp="1"/>
          </p:cNvGraphicFramePr>
          <p:nvPr>
            <p:ph idx="1"/>
          </p:nvPr>
        </p:nvGraphicFramePr>
        <p:xfrm>
          <a:off x="0" y="1304144"/>
          <a:ext cx="12192000" cy="5553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7694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938</Words>
  <Application>Microsoft Office PowerPoint</Application>
  <PresentationFormat>Widescreen</PresentationFormat>
  <Paragraphs>41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Project 1: Real-Time DevOps Incident Triage and Auto-Remediation Agent Using Multi-Agent LLMs, Retrieval-Augmented Generation (RAG), and Kubernetes  Project 2: Agentic AI-Based Project Health and Risk Monitoring System for Automated Project Governance  </vt:lpstr>
      <vt:lpstr>PROBLEM STATEMENT &amp; OBJECTIVES</vt:lpstr>
      <vt:lpstr>DATASETS,TECHNICAL STACK AND EXPECTED OUTCOME</vt:lpstr>
      <vt:lpstr>PROBLEM STATEMENT &amp; OBJECTIVES</vt:lpstr>
      <vt:lpstr>DATASET,TECHNICAL STACK AND EXPECTED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NoelJacob Biju</dc:creator>
  <cp:lastModifiedBy>NoelJacob Biju</cp:lastModifiedBy>
  <cp:revision>3</cp:revision>
  <dcterms:created xsi:type="dcterms:W3CDTF">2026-08-27T09:21:24Z</dcterms:created>
  <dcterms:modified xsi:type="dcterms:W3CDTF">2026-08-27T09:30:11Z</dcterms:modified>
</cp:coreProperties>
</file>